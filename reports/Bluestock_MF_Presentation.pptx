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Bluestock Mutual Fund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 Final Presentation</a:t>
            </a:r>
          </a:p>
          <a:p>
            <a:r>
              <a:t>By Executive Data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Problem: Fragmented data across 40 schemes leading to poor visibility.</a:t>
            </a:r>
          </a:p>
          <a:p>
            <a:pPr>
              <a:defRPr sz="2400"/>
            </a:pPr>
            <a:r>
              <a:t>Objective 1: Build a centralized Data Warehouse (Star Schema).</a:t>
            </a:r>
          </a:p>
          <a:p>
            <a:pPr>
              <a:defRPr sz="2400"/>
            </a:pPr>
            <a:r>
              <a:t>Objective 2: Automate ETL pipelines to ingest live NAV data.</a:t>
            </a:r>
          </a:p>
          <a:p>
            <a:pPr>
              <a:defRPr sz="2400"/>
            </a:pPr>
            <a:r>
              <a:t>Objective 3: Develop interactive dashboards for executive monitoring.</a:t>
            </a:r>
          </a:p>
          <a:p>
            <a:pPr>
              <a:defRPr sz="2400"/>
            </a:pPr>
            <a:r>
              <a:t>Objective 4: Compute advanced performance metrics (Sharpe, Alpha, VaR).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Internal Data: CSV dumps covering Demographics, Transactions, AUM, and Portfolio Holdings.</a:t>
            </a:r>
          </a:p>
          <a:p>
            <a:pPr>
              <a:defRPr sz="2400"/>
            </a:pPr>
            <a:r>
              <a:t>External Data: AMFI Public API for live Daily NAV fetching.</a:t>
            </a:r>
          </a:p>
          <a:p>
            <a:pPr>
              <a:defRPr sz="2400"/>
            </a:pPr>
            <a:r>
              <a:t>ETL Flow: Python/Pandas extraction -&gt; Regex &amp; Type casting -&gt; SQLite Storage.</a:t>
            </a:r>
          </a:p>
          <a:p>
            <a:pPr>
              <a:defRPr sz="2400"/>
            </a:pPr>
            <a:r>
              <a:t>Schema: Star Schema with Fact (NAV, Performance) and Dimension (Fund, Date) tables.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Extraction: Concurrent API calls to AMFI</a:t>
            </a:r>
          </a:p>
          <a:p>
            <a:pPr>
              <a:defRPr sz="2400"/>
            </a:pPr>
            <a:r>
              <a:t>Transformation: Missing value imputation (ffill), Schema enforcement</a:t>
            </a:r>
          </a:p>
          <a:p>
            <a:pPr>
              <a:defRPr sz="2400"/>
            </a:pPr>
            <a:r>
              <a:t>Loading: SQLite database for lightweight, portable analytical queries</a:t>
            </a:r>
          </a:p>
          <a:p>
            <a:pPr>
              <a:defRPr sz="2400"/>
            </a:pPr>
            <a:r>
              <a:t>Reporting: Python generated PDFs, PPTX, and BI Dashboard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Highlight: AUM Dominance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[Image not found: 2_aum_growth.png]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Highlight: Unstoppable SIP Inflows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[Image not found: 3_sip_inflows.png]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Performance: Benchmark Comparison</a:t>
            </a:r>
          </a:p>
        </p:txBody>
      </p:sp>
      <p:pic>
        <p:nvPicPr>
          <p:cNvPr id="3" name="Picture 2" descr="benchmark_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Performance: 30-Day Rolling Sharpe</a:t>
            </a:r>
          </a:p>
        </p:txBody>
      </p:sp>
      <p:pic>
        <p:nvPicPr>
          <p:cNvPr id="3" name="Picture 2" descr="rolling_shar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Dashboard: Main Executive View</a:t>
            </a:r>
          </a:p>
        </p:txBody>
      </p:sp>
      <p:pic>
        <p:nvPicPr>
          <p:cNvPr id="3" name="Picture 2" descr="Page_1_Industr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2588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Dashboard: Performance Deep Dive</a:t>
            </a:r>
          </a:p>
        </p:txBody>
      </p:sp>
      <p:pic>
        <p:nvPicPr>
          <p:cNvPr id="3" name="Picture 2" descr="Page_2_Fund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2588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Finding 1: 2023 Bull run significantly elevated equity fund baselines.</a:t>
            </a:r>
          </a:p>
          <a:p>
            <a:pPr>
              <a:defRPr sz="2400"/>
            </a:pPr>
            <a:r>
              <a:t>Finding 2: B30 cities represent the highest growth vector.</a:t>
            </a:r>
          </a:p>
          <a:p>
            <a:pPr>
              <a:defRPr sz="2400"/>
            </a:pPr>
            <a:r>
              <a:t>Rec 1: Target localized marketing campaigns in Tier-2/3 cities.</a:t>
            </a:r>
          </a:p>
          <a:p>
            <a:pPr>
              <a:defRPr sz="2400"/>
            </a:pPr>
            <a:r>
              <a:t>Rec 2: Implement dynamic hedging for high-beta Small Cap funds.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